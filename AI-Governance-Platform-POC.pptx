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8138160" y="-1097280"/>
            <a:ext cx="5486400" cy="5486400"/>
          </a:xfrm>
          <a:prstGeom prst="arc">
            <a:avLst/>
          </a:prstGeom>
          <a:noFill/>
          <a:ln w="31750">
            <a:solidFill>
              <a:srgbClr val="087F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8778240" y="-502920"/>
            <a:ext cx="4389120" cy="4389120"/>
          </a:xfrm>
          <a:prstGeom prst="arc">
            <a:avLst/>
          </a:prstGeom>
          <a:noFill/>
          <a:ln w="19050">
            <a:solidFill>
              <a:srgbClr val="E08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713232"/>
            <a:ext cx="1965960" cy="310896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PROOF OF CONCEPT /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AI Governance
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6217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5F3ED"/>
                </a:solidFill>
                <a:latin typeface="Aptos"/>
              </a:rPr>
              <a:t>A working platform for policy, regulation, risk, compliance,
and explainable AI-assisted governance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4D5D1"/>
                </a:solidFill>
                <a:latin typeface="Aptos"/>
              </a:rPr>
              <a:t>Next.js  •  FastAPI  •  PostgreSQL  •  LangChain  •  LangGraph  •  ChromaDB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58338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87F7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THE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A governance operating system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From evidence and regulations to a traceable recommendation.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73152" cy="18288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Govern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70632"/>
            <a:ext cx="2990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Policies, frameworks, controls, approvals, and audit findings in one workspace.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148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148840"/>
            <a:ext cx="73152" cy="182880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770632"/>
            <a:ext cx="2990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RAG over regulations, standards, findings, and governance documents with citations.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488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148840"/>
            <a:ext cx="73152" cy="1828800"/>
          </a:xfrm>
          <a:prstGeom prst="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770632"/>
            <a:ext cx="29900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Specialist agents collaborate in sequence and preserve the reasoning trail.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46320"/>
            <a:ext cx="1965960" cy="310896"/>
          </a:xfrm>
          <a:prstGeom prst="round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WORKING FULL-STACK POC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30952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42126"/>
                </a:solidFill>
                <a:latin typeface="Aptos"/>
              </a:rPr>
              <a:t>The platform has a usable dashboard, authenticated workflows, document ingestion, agent tooling, MCP interfaces, and an auditable collaboration flow.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One platform, four cooperating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The same domain data powers the UI, REST API, agents, and MCP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057400" cy="960120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Next.js + Tailwind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39" y="26334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2377440"/>
            <a:ext cx="2057400" cy="960120"/>
          </a:xfrm>
          <a:prstGeom prst="round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FastAPI + SQLAlchemy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26334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2377440"/>
            <a:ext cx="2057400" cy="960120"/>
          </a:xfrm>
          <a:prstGeom prst="round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LangGraph + LangChain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59" y="263347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377440"/>
            <a:ext cx="2057400" cy="960120"/>
          </a:xfrm>
          <a:prstGeom prst="round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PostgreSQL + ChromaDB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60520"/>
            <a:ext cx="73152" cy="123444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43434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Human-facing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782312"/>
            <a:ext cx="2807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Dashboard, repository, research, agents, collaboration, and document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41605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4160520"/>
            <a:ext cx="73152" cy="123444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3" y="43434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2583" y="4782312"/>
            <a:ext cx="2807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RAG retrieval, citation answers, specialist tools, memory, orchestration, and observability.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605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4160520"/>
            <a:ext cx="73152" cy="1234440"/>
          </a:xfrm>
          <a:prstGeom prst="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343400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Interoperability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782312"/>
            <a:ext cx="28072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Four MCP servers expose policies, compliance, audits, and documents to external clients.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DELIVERY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Five phases, one traceable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Each phase adds a new decision surface without breaking the previous 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" cy="310896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01952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01952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Repository • Dashboard • Policies • Research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" y="2286000"/>
            <a:ext cx="27432" cy="411480"/>
          </a:xfrm>
          <a:prstGeom prst="rect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70048"/>
            <a:ext cx="502920" cy="310896"/>
          </a:xfrm>
          <a:prstGeom prst="round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6517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Knowledge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Ingest • Chunk • Embed • Retrieve • Cite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3035808"/>
            <a:ext cx="27432" cy="411480"/>
          </a:xfrm>
          <a:prstGeom prst="rect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419856"/>
            <a:ext cx="502920" cy="310896"/>
          </a:xfrm>
          <a:prstGeom prst="round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40156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01568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Legal • Compliance • Risk • Advisor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" y="3785616"/>
            <a:ext cx="27432" cy="411480"/>
          </a:xfrm>
          <a:prstGeom prst="rect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69664"/>
            <a:ext cx="502920" cy="310896"/>
          </a:xfrm>
          <a:prstGeom prst="round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15137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MCP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151376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Policy • Compliance • Audit • Documents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4535424"/>
            <a:ext cx="27432" cy="411480"/>
          </a:xfrm>
          <a:prstGeom prst="rect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919472"/>
            <a:ext cx="502920" cy="310896"/>
          </a:xfrm>
          <a:prstGeom prst="roundRect">
            <a:avLst/>
          </a:prstGeom>
          <a:solidFill>
            <a:srgbClr val="25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901184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Collaboration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901184"/>
            <a:ext cx="6949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Research → Compliance → Risk → Governance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" y="5285232"/>
            <a:ext cx="27432" cy="411480"/>
          </a:xfrm>
          <a:prstGeom prst="rect">
            <a:avLst/>
          </a:prstGeom>
          <a:solidFill>
            <a:srgbClr val="D2D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PHASE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The working governance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A practical operating surface for the first line of governance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20240"/>
            <a:ext cx="73152" cy="123444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1031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Regulation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542032"/>
            <a:ext cx="4773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Track jurisdictions, categories, effective dates, articles, clauses, and source URLs.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73152" cy="123444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0312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Compliance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542032"/>
            <a:ext cx="4773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View risk levels, assessment status, policy status, average score, and open findings.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576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57600"/>
            <a:ext cx="73152" cy="1234440"/>
          </a:xfrm>
          <a:prstGeom prst="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840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Policy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4279392"/>
            <a:ext cx="4773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Create, review, approve, retire, and search governance policy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5760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657600"/>
            <a:ext cx="73152" cy="1234440"/>
          </a:xfrm>
          <a:prstGeom prst="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84048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Research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279392"/>
            <a:ext cx="47731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Ask grounded questions, inspect sources, and save research notes.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PHASE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Knowledge becomes searchable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Every answer can point back to a source chunk.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438912" cy="310896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TXT / Markdown / PDF / 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2057400"/>
            <a:ext cx="438912" cy="310896"/>
          </a:xfrm>
          <a:prstGeom prst="round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8648" y="2606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301752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Recursive overlapping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2057400"/>
            <a:ext cx="438912" cy="310896"/>
          </a:xfrm>
          <a:prstGeom prst="round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2936" y="2606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Embed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2936" y="301752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OpenAI embedding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1464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2057400"/>
            <a:ext cx="438912" cy="310896"/>
          </a:xfrm>
          <a:prstGeom prst="round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07224" y="2606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4" y="301752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Similarity + relevance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121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2057400"/>
            <a:ext cx="438912" cy="310896"/>
          </a:xfrm>
          <a:prstGeom prst="roundRect">
            <a:avLst/>
          </a:prstGeom>
          <a:solidFill>
            <a:srgbClr val="25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606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Cite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3017520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Numbered source markers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02870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572000"/>
            <a:ext cx="73152" cy="9144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52144" y="47548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Knowledge domains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5193792"/>
            <a:ext cx="984808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Regulations  •  Industry Standards  •  Audit Findings  •  Governance Documents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PHASE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Context-aware agents with real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Specialists use structured database tools and RAG search instead of guessing.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73152" cy="1143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Legal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33472"/>
            <a:ext cx="463600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Regulations + policies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73152" cy="114300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633472"/>
            <a:ext cx="463600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Frameworks + controls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73152" cy="1143000"/>
          </a:xfrm>
          <a:prstGeom prst="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931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Risk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370831"/>
            <a:ext cx="463600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Risk profiles + findings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074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49039"/>
            <a:ext cx="73152" cy="1143000"/>
          </a:xfrm>
          <a:prstGeom prst="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3931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Governance 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370831"/>
            <a:ext cx="4636008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Policies +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Shared memory is scoped by session; the orchestrator routes each question to one best-fit specialist.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MCP makes governance interoperable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External clients can call the same governed capabilities through Model Context Protocol.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73152" cy="109728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2402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Policy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679192"/>
            <a:ext cx="45902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CRUD + semantic policy 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057400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59" y="2057400"/>
            <a:ext cx="73152" cy="109728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3" y="224028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Compliance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3" y="2679192"/>
            <a:ext cx="45902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Frameworks, controls, assessments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73152" cy="1097280"/>
          </a:xfrm>
          <a:prstGeom prst="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93192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Audit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370831"/>
            <a:ext cx="45902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Audits, findings, remediation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3749039"/>
            <a:ext cx="50292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59" y="3749039"/>
            <a:ext cx="73152" cy="1097280"/>
          </a:xfrm>
          <a:prstGeom prst="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3" y="3931920"/>
            <a:ext cx="4617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Document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3" y="4370831"/>
            <a:ext cx="4590288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Ingest, search, delete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VS Code / Claude Desktop / compatible agents → stdio MCP servers → shared platform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PHASE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A recommendation with a chain of custody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The final advice is not a black box: every specialist step is inspectable.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1508760" cy="310896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2267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834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7177"/>
                </a:solidFill>
                <a:latin typeface="Aptos"/>
              </a:rPr>
              <a:t>Find applicable sources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240280"/>
            <a:ext cx="1508760" cy="310896"/>
          </a:xfrm>
          <a:prstGeom prst="round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2267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834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7177"/>
                </a:solidFill>
                <a:latin typeface="Aptos"/>
              </a:rPr>
              <a:t>Map controls and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79" y="2240280"/>
            <a:ext cx="1508760" cy="310896"/>
          </a:xfrm>
          <a:prstGeom prst="round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267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87F78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834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7177"/>
                </a:solidFill>
                <a:latin typeface="Aptos"/>
              </a:rPr>
              <a:t>Assess risk and findings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999" y="2240280"/>
            <a:ext cx="1508760" cy="310896"/>
          </a:xfrm>
          <a:prstGeom prst="round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79" y="28346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07177"/>
                </a:solidFill>
                <a:latin typeface="Aptos"/>
              </a:rPr>
              <a:t>Prioritize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434840"/>
            <a:ext cx="99669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434840"/>
            <a:ext cx="73152" cy="91440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5024" y="4617720"/>
            <a:ext cx="9555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Traceability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5056631"/>
            <a:ext cx="9528048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Run ID • agent output • tool/LLM events • durations • final recommendation • persisted 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A five-minute story for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Start with a real governance question and follow the evidence to the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411480" cy="310896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78308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78308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Should we deploy the credit model in the EU?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532888"/>
            <a:ext cx="411480" cy="310896"/>
          </a:xfrm>
          <a:prstGeom prst="round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3288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532888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Find EU AI Act obligations and standards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82696"/>
            <a:ext cx="411480" cy="310896"/>
          </a:xfrm>
          <a:prstGeom prst="round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8269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282696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Map controls and current compliance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032504"/>
            <a:ext cx="411480" cy="310896"/>
          </a:xfrm>
          <a:prstGeom prst="round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3250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032504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Surface high-risk classification and findings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782312"/>
            <a:ext cx="411480" cy="310896"/>
          </a:xfrm>
          <a:prstGeom prst="roundRect">
            <a:avLst/>
          </a:prstGeom>
          <a:solidFill>
            <a:srgbClr val="258B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782312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26"/>
                </a:solidFill>
                <a:latin typeface="Aptos"/>
              </a:rPr>
              <a:t>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478231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Prioritized action plan with 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87F78"/>
                </a:solidFill>
                <a:latin typeface="Aptos"/>
              </a:rPr>
              <a:t>OPERATIONAL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4980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42126"/>
                </a:solidFill>
                <a:latin typeface="Aptos"/>
              </a:rPr>
              <a:t>What is working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7177"/>
                </a:solidFill>
                <a:latin typeface="Aptos"/>
              </a:rPr>
              <a:t>The POC is deliberately demonstrable, testable, and extensible.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73152" cy="1280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1488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587752"/>
            <a:ext cx="477316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23 backend tests pass. Frontend production build passes across all 16 routes. Auth and protected API flows are covered.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65960"/>
            <a:ext cx="73152" cy="1280160"/>
          </a:xfrm>
          <a:prstGeom prst="rect">
            <a:avLst/>
          </a:prstGeom>
          <a:solidFill>
            <a:srgbClr val="E08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47104" y="21488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Configurable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2587752"/>
            <a:ext cx="477316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OpenAI and LangSmith are environment-driven. Chroma supports a server or embedded local fallback.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947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794760"/>
            <a:ext cx="73152" cy="1280160"/>
          </a:xfrm>
          <a:prstGeom prst="rect">
            <a:avLst/>
          </a:prstGeom>
          <a:solidFill>
            <a:srgbClr val="5B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9776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Presentable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4416552"/>
            <a:ext cx="477316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Professional workspace shell, domain-focused document ingestion, agent collaboration trace, and MCP configuration.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79476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794760"/>
            <a:ext cx="73152" cy="1280160"/>
          </a:xfrm>
          <a:prstGeom prst="rect">
            <a:avLst/>
          </a:prstGeom>
          <a:solidFill>
            <a:srgbClr val="10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977640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2126"/>
                </a:solidFill>
                <a:latin typeface="Aptos"/>
              </a:rPr>
              <a:t>Next hardening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416552"/>
            <a:ext cx="4773168" cy="548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177"/>
                </a:solidFill>
                <a:latin typeface="Aptos"/>
              </a:rPr>
              <a:t>Add production auth provider, persistent LangGraph checkpointing, migration revisions, and CI/CD deployment controls.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07177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087F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77240"/>
            <a:ext cx="1325880" cy="310896"/>
          </a:xfrm>
          <a:prstGeom prst="round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80467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Governance decisions
with evidence attached.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4612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5F3ED"/>
                </a:solidFill>
                <a:latin typeface="Aptos"/>
              </a:rPr>
              <a:t>A working foundation for safer, more explainable, and more accountable AI adoption.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4D5D1"/>
                </a:solidFill>
                <a:latin typeface="Aptos"/>
              </a:rPr>
              <a:t>AI Governance &amp; Compliance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5715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087F7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